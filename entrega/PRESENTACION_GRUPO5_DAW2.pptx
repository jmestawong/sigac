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81e3a32-38ba-534d-2e62-6107f6231ae6}">
          <p14:sldIdLst>
            <p14:sldId id="256"/>
            <p14:sldId id="257"/>
          </p14:sldIdLst>
        </p14:section>
        <p14:section name="Diagnóstico" id="{225694e4-4979-96d3-3221-7119ebad06ec}">
          <p14:sldIdLst>
            <p14:sldId id="258"/>
            <p14:sldId id="259"/>
            <p14:sldId id="260"/>
          </p14:sldIdLst>
        </p14:section>
        <p14:section name="Objetivos" id="{3fdae380-170f-2c72-a3d9-046596d8745f}">
          <p14:sldIdLst>
            <p14:sldId id="261"/>
            <p14:sldId id="262"/>
          </p14:sldIdLst>
        </p14:section>
        <p14:section name="Solución" id="{4c4af9a2-853b-634b-99e1-1ca1a813d93c}">
          <p14:sldIdLst>
            <p14:sldId id="263"/>
            <p14:sldId id="264"/>
            <p14:sldId id="265"/>
            <p14:sldId id="266"/>
          </p14:sldIdLst>
        </p14:section>
        <p14:section name="Demostración" id="{9e3eccc2-a8fb-19bb-9a9b-138fe252915f}">
          <p14:sldIdLst>
            <p14:sldId id="267"/>
            <p14:sldId id="268"/>
            <p14:sldId id="269"/>
          </p14:sldIdLst>
        </p14:section>
        <p14:section name="Pruebas" id="{840f2bf7-da1d-e856-b75e-15e3e558beff}">
          <p14:sldIdLst>
            <p14:sldId id="270"/>
          </p14:sldIdLst>
        </p14:section>
        <p14:section name="Cierre" id="{92eb9d42-6507-39f5-ec38-41bbb91208b2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6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62E"/>
                </a:solidFill>
                <a:latin typeface="+mn-lt"/>
              </a:rPr>
              <a:t>Endpoints por módulo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Endpoints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ms-catalogos</c:v>
                  </c:pt>
                  <c:pt idx="1">
                    <c:v>ms-cobranza</c:v>
                  </c:pt>
                  <c:pt idx="2">
                    <c:v>ms-egresos</c:v>
                  </c:pt>
                  <c:pt idx="3">
                    <c:v>ms-reportes</c:v>
                  </c:pt>
                  <c:pt idx="4">
                    <c:v>ms-auth</c:v>
                  </c:pt>
                  <c:pt idx="5">
                    <c:v>ms-auditoria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14</c:v>
                </c:pt>
                <c:pt idx="2">
                  <c:v>6</c:v>
                </c:pt>
                <c:pt idx="3">
                  <c:v>6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6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grupo 5 y del proyecto. SIGAC es el sistema de gestión administrativa y de caja de la Asociación de Comerciantes Mercado Unión y Progreso. En este ciclo ampliamos la versión de DAW I (login y CRUD de socios) a todo 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el mismo esquema del informe: diagnóstico, objetivos, solución, demostración, pruebas y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del diagnóstico. INEI 2016: 2,612 mercados y 328,946 puestos. INEI 2025: 70.7 % de empleo informal. INEI 2026: 47.4 % de usuarios de internet usa banca electrónica. La asociación administra socios, puestos y cobros de forma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Social: INEI censo, informalidad y brecha digital por edad (56.7 % de 60 años a más usa internet). Económica: PRODUCE 2024, 44.2 % de las empresas formales son de comercio; Paga Seguro digitalizó 10,000 puestos; banca electrónica 47.4 %.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Política: Código Civil arts. 80 y 83 (libro de asociados) y Ley 29733 con el DS 016-2024-JUS vigente desde el 30 de marzo de 2025, notificación de brechas en 48 horas. Tecnológica: 64.5 % de hogares con internet, 84.7 % en Lima, 90.2 % se conecta por celular; Spring y Angular son software libre.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objetivo tiene indicador y fórmula en el informe. OBJ1 seguridad: 52 de 52 endpoints de negocio exigen token. OBJ2 integridad de cobros: 3 de 3 operaciones atómicas. OBJ3 acceso a datos: 10 de 10 repositorios con pruebas. OBJ4 cobertura funcional: 32 de 33 requisitos.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Aporte a empresas (los puestos y la asociación), personas (socios, operador, junta) y sociedad (formalización, software libre). Beneficiarios directos: junta, operador, administrador, socios, equipo. Indirectos: proveedores y clientes, comunidad, otras asociaciones.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Siguiendo el repositorio del curso: Angular consume todo por el API Gateway (8762). Eureka registra los servicios. Seis microservicios con base propia: auth, catalogos, cobranza, egresos, reportes y auditoria. OpenFeign entre servicios y RabbitMQ para la auditoria asincrona. Hay 53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OpenFeign es la comunicación síncrona: cobranza pide a catalogos los datos del socio y puesto, y catalogos pregunta a cobranza si algo tiene cobros antes de eliminarlo. RabbitMQ es la asíncrona: cobranza y egresos publican cada movimiento y ms-auditoria lo guarda con el usuario, sin que el cobro espere.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REST: valida usuario y password, la contraseña se guarda con BCrypt, el backend emite un JWT con el rol y valida cada petición. Autorización por rol validada en el servidor: operador recibe 403 al escribir en catálogos. Pruebas automáticas descubren los 51 endpoints y verifican 401 y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rúbrica pide implementar los cuatro métodos y consumirlos desde Angular. Hay 26 GET, 16 POST, 5 PUT y 6 DELETE. Los cinco catálogos tienen CRUD completo. Angular los consume con un servicio HttpClient por módulo y 48 verificaciones de método y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vivo: listar socios (GET), crear (POST), editar (PUT), eliminar (DELETE) y recargar para mostrar la persistencia. Luego cobranza: buscar por socio o puesto, marcar abonada o exonerada y ver el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Procesar pago es transaccional: se actualizan las cuentas y se emite el recibo con correlativo único generado sobre el AUTO_INCREMENT de MySQL. Si algo falla, no quedan cuentas abonadas sin recibo. Lo mismo aplica al canje bancario y al ingreso externo. Diez pruebas de PagoServiceTest lo verifican.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Egresos individuales y masivos desde un .xlsx con reporte de filas válidas e inválidas; procesar y anular. Seis reportes XLSX descargables: movimientos, totales, socios, puestos, egresos y bancos.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141 pruebas: 55 de acceso a datos en los 9 repositorios, 63 de servicios con Mockito y 23 de integración. Frontend 101 unitarias con Vitest. 18 e2e con Playwright. Las pruebas detectaron defectos reales: login sin cuerpo daba 500, errores 4xx de Spring enmascarados como 500, fechas con desfase de un día por zona horaria.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conclusiones: el sector justifica la solución y se cumplió el 97 % de los requisitos; la combinación Spring y Angular dio una solución desacoplada y segura; las pruebas fueron decisivas. Tres recomendaciones: capacitar y respaldar antes de producción; fortalecer auditoría y cumplimiento legal; automatizar pruebas desde el inicio y evolucionar.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cumplimiento de la rúbrica y repositorio. Agradecer y abrir preguntas. Recordar que el video Demo Reel sigue el guion del Anexo G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SIGAC · DAW II · Grupo 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48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DESARROLLO DE APLICACIONES WEB II (4697) · PROYECTO DE INVESTIGACIÓN APLICADA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SIGAC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 Administrativa y de Caja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Asociación de Comerciantes “Mercado Unión y Progreso”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Grupo 5 · Barreda Puma Fernando (coordinador) · Roman Quispe César · Mesta Wong Jennyfer · Millan Olazo Kevin · Sihuincha Angelino Vladimir</a:t>
            </a:r>
            <a:endParaRPr lang="en-US" sz="1200" dirty="0"/>
          </a:p>
        </p:txBody>
      </p:sp>
      <p:pic>
        <p:nvPicPr>
          <p:cNvPr id="8" name="captura login" descr="Pantalla de login de SIG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88720"/>
            <a:ext cx="3108960" cy="1747937"/>
          </a:xfrm>
          <a:prstGeom prst="rect">
            <a:avLst/>
          </a:prstGeom>
        </p:spPr>
      </p:pic>
      <p:pic>
        <p:nvPicPr>
          <p:cNvPr id="9" name="captura socios" descr="Listado de soci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063240"/>
            <a:ext cx="3108960" cy="17479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de la exposición</a:t>
            </a:r>
            <a:endParaRPr lang="en-US" sz="2800" dirty="0"/>
          </a:p>
        </p:txBody>
      </p:sp>
      <p:sp>
        <p:nvSpPr>
          <p:cNvPr id="4" name="tarjeta esquema 1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nsignia 1"/>
          <p:cNvSpPr/>
          <p:nvPr/>
        </p:nvSpPr>
        <p:spPr>
          <a:xfrm>
            <a:off x="640080" y="15270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Diagnóstico SEPTE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Social, económica, política y tecnológica</a:t>
            </a:r>
            <a:endParaRPr lang="en-US" sz="1400" dirty="0"/>
          </a:p>
        </p:txBody>
      </p:sp>
      <p:sp>
        <p:nvSpPr>
          <p:cNvPr id="9" name="tarjeta esquema 2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nsignia 2"/>
          <p:cNvSpPr/>
          <p:nvPr/>
        </p:nvSpPr>
        <p:spPr>
          <a:xfrm>
            <a:off x="4846320" y="15270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Objetivos SMART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Cuatro objetivos medibles y verificados</a:t>
            </a:r>
            <a:endParaRPr lang="en-US" sz="1400" dirty="0"/>
          </a:p>
        </p:txBody>
      </p:sp>
      <p:sp>
        <p:nvSpPr>
          <p:cNvPr id="14" name="tarjeta esquema 3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nsignia 3"/>
          <p:cNvSpPr/>
          <p:nvPr/>
        </p:nvSpPr>
        <p:spPr>
          <a:xfrm>
            <a:off x="640080" y="262432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Solución y arquitectura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Spring Boot + Angular + MySQL</a:t>
            </a:r>
            <a:endParaRPr lang="en-US" sz="1400" dirty="0"/>
          </a:p>
        </p:txBody>
      </p:sp>
      <p:sp>
        <p:nvSpPr>
          <p:cNvPr id="19" name="tarjeta esquema 4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nsignia 4"/>
          <p:cNvSpPr/>
          <p:nvPr/>
        </p:nvSpPr>
        <p:spPr>
          <a:xfrm>
            <a:off x="4846320" y="262432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Demostración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Login, catálogos, cobranza, egresos, reportes</a:t>
            </a:r>
            <a:endParaRPr lang="en-US" sz="1400" dirty="0"/>
          </a:p>
        </p:txBody>
      </p:sp>
      <p:sp>
        <p:nvSpPr>
          <p:cNvPr id="24" name="tarjeta esquema 5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insignia 5"/>
          <p:cNvSpPr/>
          <p:nvPr/>
        </p:nvSpPr>
        <p:spPr>
          <a:xfrm>
            <a:off x="640080" y="37216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3584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Pruebas y rúbrica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218 + 104 + 20 pruebas en verde</a:t>
            </a:r>
            <a:endParaRPr lang="en-US" sz="1400" dirty="0"/>
          </a:p>
        </p:txBody>
      </p:sp>
      <p:sp>
        <p:nvSpPr>
          <p:cNvPr id="29" name="tarjeta esquema 6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insignia 6"/>
          <p:cNvSpPr/>
          <p:nvPr/>
        </p:nvSpPr>
        <p:spPr>
          <a:xfrm>
            <a:off x="4846320" y="37216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84632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40680" y="3584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Conclusiones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5440680" y="3950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Tres conclusiones y tres recomendaciones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sector grande gestionado en cuadernos</a:t>
            </a:r>
            <a:endParaRPr lang="en-US" sz="2800" dirty="0"/>
          </a:p>
        </p:txBody>
      </p:sp>
      <p:sp>
        <p:nvSpPr>
          <p:cNvPr id="4" name="estadística 1"/>
          <p:cNvSpPr/>
          <p:nvPr/>
        </p:nvSpPr>
        <p:spPr>
          <a:xfrm>
            <a:off x="45720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2,612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mercados de abastos y 328,946 puestos fijos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INEI, Censo 2016</a:t>
            </a:r>
            <a:endParaRPr lang="en-US" sz="1100" dirty="0"/>
          </a:p>
        </p:txBody>
      </p:sp>
      <p:sp>
        <p:nvSpPr>
          <p:cNvPr id="8" name="estadística 2"/>
          <p:cNvSpPr/>
          <p:nvPr/>
        </p:nvSpPr>
        <p:spPr>
          <a:xfrm>
            <a:off x="324612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70.7 %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la población ocupada tiene empleo informal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INEI, 2025</a:t>
            </a:r>
            <a:endParaRPr lang="en-US" sz="1100" dirty="0"/>
          </a:p>
        </p:txBody>
      </p:sp>
      <p:sp>
        <p:nvSpPr>
          <p:cNvPr id="12" name="estadística 3"/>
          <p:cNvSpPr/>
          <p:nvPr/>
        </p:nvSpPr>
        <p:spPr>
          <a:xfrm>
            <a:off x="603504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1792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47.4 %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usuarios de internet usa banca electrónica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INEI, II trim. 2026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Problema: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socios, puestos, cobros y egresos viven en cuadernos y hojas de cálculo: deudas difíciles de ubicar, recibos sin control y reportes poco confiables.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SEPTE: variables social y económica</a:t>
            </a:r>
            <a:endParaRPr lang="en-US" sz="2800" dirty="0"/>
          </a:p>
        </p:txBody>
      </p:sp>
      <p:sp>
        <p:nvSpPr>
          <p:cNvPr id="4" name="SEPTE Social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unto Social"/>
          <p:cNvSpPr/>
          <p:nvPr/>
        </p:nvSpPr>
        <p:spPr>
          <a:xfrm>
            <a:off x="640080" y="1325880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Social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2,612 mercados; 70.7 % de empleo informal; solo 56.7 % de personas de 60+ usa internet.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Oportunidad: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ordenar y formalizar la gestión con una interfaz sencilla.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Amenaza: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baja familiaridad digital de socios y personal.</a:t>
            </a:r>
            <a:endParaRPr lang="en-US" sz="1600" dirty="0"/>
          </a:p>
        </p:txBody>
      </p:sp>
      <p:sp>
        <p:nvSpPr>
          <p:cNvPr id="10" name="SEPTE Económica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unto Económica"/>
          <p:cNvSpPr/>
          <p:nvPr/>
        </p:nvSpPr>
        <p:spPr>
          <a:xfrm>
            <a:off x="484632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Económica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44.2 % de las empresas formales son de comercio (PRODUCE 2024); 47.4 % usa banca electrónica.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Oportunidad: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reducir morosidad y conciliar depósitos con canje bancario.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Amenaza: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errores y recibos duplicados si todo es manual.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SEPTE: variables política y tecnológica</a:t>
            </a:r>
            <a:endParaRPr lang="en-US" sz="2800" dirty="0"/>
          </a:p>
        </p:txBody>
      </p:sp>
      <p:sp>
        <p:nvSpPr>
          <p:cNvPr id="4" name="SEPTE Política (legal)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unto Política (legal)"/>
          <p:cNvSpPr/>
          <p:nvPr/>
        </p:nvSpPr>
        <p:spPr>
          <a:xfrm>
            <a:off x="640080" y="1325880"/>
            <a:ext cx="128016" cy="12801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Política (legal)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Código Civil arts. 80 y 83: libro de asociados. Ley 29733 y DS 016-2024-JUS (vigente desde 30/03/2025).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Oportunidad: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registro digital de asociados y seguridad alineada a la norma.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Amenaza: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datos personales sin control ni plan ante brechas (48 h).</a:t>
            </a:r>
            <a:endParaRPr lang="en-US" sz="1600" dirty="0"/>
          </a:p>
        </p:txBody>
      </p:sp>
      <p:sp>
        <p:nvSpPr>
          <p:cNvPr id="10" name="SEPTE Tecnológica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punto Tecnológica"/>
          <p:cNvSpPr/>
          <p:nvPr/>
        </p:nvSpPr>
        <p:spPr>
          <a:xfrm>
            <a:off x="484632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Tecnológica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64.5 % de hogares con internet (84.7 % en Lima); 90.2 % se conecta por celular.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Oportunidad: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acceso desde cualquier dispositivo y software libre.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Amenaza: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brecha de acceso y de capacidades técnicas.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objetivos SMART, todos verificados</a:t>
            </a:r>
            <a:endParaRPr lang="en-US" sz="2800" dirty="0"/>
          </a:p>
        </p:txBody>
      </p:sp>
      <p:sp>
        <p:nvSpPr>
          <p:cNvPr id="4" name="objetivo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224028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 1 · Seguridad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1737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52 de 52 endpoints de negocio exigen token JWT; BCrypt en contraseñas</a:t>
            </a:r>
            <a:endParaRPr lang="en-US" sz="1300" dirty="0"/>
          </a:p>
        </p:txBody>
      </p:sp>
      <p:sp>
        <p:nvSpPr>
          <p:cNvPr id="8" name="objetivo 2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46320" y="13716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 2 · Integridad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737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de 3 operaciones de cobro atómicas y con correlativo único</a:t>
            </a:r>
            <a:endParaRPr lang="en-US" sz="1300" dirty="0"/>
          </a:p>
        </p:txBody>
      </p:sp>
      <p:sp>
        <p:nvSpPr>
          <p:cNvPr id="12" name="objetivo 3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0080" y="30632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 3 · Acceso a datos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 de 10 repositorios con pruebas de insertar, actualizar, eliminar y listar</a:t>
            </a:r>
            <a:endParaRPr lang="en-US" sz="1300" dirty="0"/>
          </a:p>
        </p:txBody>
      </p:sp>
      <p:sp>
        <p:nvSpPr>
          <p:cNvPr id="16" name="objetivo 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46320" y="30632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97 %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 4 · Cobertura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32 de 33 requisitos funcionales completos (meta: 95 %)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 y beneficiarios</a:t>
            </a:r>
            <a:endParaRPr lang="en-US" sz="2800" dirty="0"/>
          </a:p>
        </p:txBody>
      </p:sp>
      <p:sp>
        <p:nvSpPr>
          <p:cNvPr id="4" name="beneficiarios directos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Beneficiarios directos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Junta directiva: información confiable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Operador de caja: cobra y consulta más rápido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Administrador: gestiona los catálogos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Socios: atención ágil y recibos con correlativo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Equipo desarrollador: Spring, Angular y pruebas</a:t>
            </a:r>
            <a:endParaRPr lang="en-US" sz="1400" dirty="0"/>
          </a:p>
        </p:txBody>
      </p:sp>
      <p:sp>
        <p:nvSpPr>
          <p:cNvPr id="7" name="beneficiarios indirectos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Beneficiarios indirectos y aporte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Proveedores y clientes del mercado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Comunidad del entorno: más orden y formalización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Otras asociaciones que repliquen la solución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Cumplimiento: libro de asociados y Ley 29733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microservicios</a:t>
            </a:r>
            <a:endParaRPr lang="en-US" sz="2800" dirty="0"/>
          </a:p>
        </p:txBody>
      </p:sp>
      <p:pic>
        <p:nvPicPr>
          <p:cNvPr id="4" name="diagrama arquitectura" descr="Arquitectura de microservicios de SIG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6791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entre microservicios</a:t>
            </a:r>
            <a:endParaRPr lang="en-US" sz="2800" dirty="0"/>
          </a:p>
        </p:txBody>
      </p:sp>
      <p:sp>
        <p:nvSpPr>
          <p:cNvPr id="4" name="openfeign"/>
          <p:cNvSpPr/>
          <p:nvPr/>
        </p:nvSpPr>
        <p:spPr>
          <a:xfrm>
            <a:off x="457200" y="118872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OpenFeign (síncrona)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Cobranza lee socio, puesto y banco de Catálogos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Catálogos no elimina lo que tiene cobranza (409)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Reportes consulta Cobranza y Egresos</a:t>
            </a:r>
            <a:endParaRPr lang="en-US" sz="1400" dirty="0"/>
          </a:p>
        </p:txBody>
      </p:sp>
      <p:sp>
        <p:nvSpPr>
          <p:cNvPr id="7" name="rabbitmq"/>
          <p:cNvSpPr/>
          <p:nvPr/>
        </p:nvSpPr>
        <p:spPr>
          <a:xfrm>
            <a:off x="3246120" y="118872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4290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RabbitMQ (asíncrona)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69164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Cobranza y Egresos publican cada movimiento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Auditoría lo guarda con el usuario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 RabbitMQ cae, el cobro no se detiene</a:t>
            </a:r>
            <a:endParaRPr lang="en-US" sz="1400" dirty="0"/>
          </a:p>
        </p:txBody>
      </p:sp>
      <p:pic>
        <p:nvPicPr>
          <p:cNvPr id="10" name="captura auditoria" descr="Bitácora de auditor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188720"/>
            <a:ext cx="2651760" cy="1490887"/>
          </a:xfrm>
          <a:prstGeom prst="rect">
            <a:avLst/>
          </a:prstGeom>
        </p:spPr>
      </p:pic>
      <p:pic>
        <p:nvPicPr>
          <p:cNvPr id="11" name="captura eureka" descr="Panel de Eurek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788920"/>
            <a:ext cx="2651760" cy="14908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y seguridad: BCrypt, JWT y roles</a:t>
            </a:r>
            <a:endParaRPr lang="en-US" sz="2800" dirty="0"/>
          </a:p>
        </p:txBody>
      </p:sp>
      <p:sp>
        <p:nvSpPr>
          <p:cNvPr id="4" name="paso seguridad 1"/>
          <p:cNvSpPr/>
          <p:nvPr/>
        </p:nvSpPr>
        <p:spPr>
          <a:xfrm>
            <a:off x="45720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nsignia 1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 /api/auth/login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5146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Usuario y contraseña obligatorios; 400 y 401 con mensajes claros</a:t>
            </a:r>
            <a:endParaRPr lang="en-US" sz="1300" dirty="0"/>
          </a:p>
        </p:txBody>
      </p:sp>
      <p:sp>
        <p:nvSpPr>
          <p:cNvPr id="9" name="paso seguridad 2"/>
          <p:cNvSpPr/>
          <p:nvPr/>
        </p:nvSpPr>
        <p:spPr>
          <a:xfrm>
            <a:off x="256032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nsignia 2"/>
          <p:cNvSpPr/>
          <p:nvPr/>
        </p:nvSpPr>
        <p:spPr>
          <a:xfrm>
            <a:off x="274320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BCrypt en MySQL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25146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tabla usuarios guarda solo el hash BCrypt, nunca texto plano</a:t>
            </a:r>
            <a:endParaRPr lang="en-US" sz="1300" dirty="0"/>
          </a:p>
        </p:txBody>
      </p:sp>
      <p:sp>
        <p:nvSpPr>
          <p:cNvPr id="14" name="paso seguridad 3"/>
          <p:cNvSpPr/>
          <p:nvPr/>
        </p:nvSpPr>
        <p:spPr>
          <a:xfrm>
            <a:off x="466344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nsignia 3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Token JWT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25146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petición lleva Authorization: Bearer; sin token, 401</a:t>
            </a:r>
            <a:endParaRPr lang="en-US" sz="1300" dirty="0"/>
          </a:p>
        </p:txBody>
      </p:sp>
      <p:sp>
        <p:nvSpPr>
          <p:cNvPr id="19" name="paso seguridad 4"/>
          <p:cNvSpPr/>
          <p:nvPr/>
        </p:nvSpPr>
        <p:spPr>
          <a:xfrm>
            <a:off x="676656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nsignia 4"/>
          <p:cNvSpPr/>
          <p:nvPr/>
        </p:nvSpPr>
        <p:spPr>
          <a:xfrm>
            <a:off x="694944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Roles ADMIN / OPERADOR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25146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servidor responde 403 al operador en catálogos y generación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Verificado: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microservicio valida el JWT por sí mismo; una prueba por servicio descubre sus endpoints y comprueba que los 52 de negocio exigen token, que un token inválido se rechaza y que el operador recibe 403 donde corresponde.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servicios REST: GET, POST, PUT y DELETE</a:t>
            </a:r>
            <a:endParaRPr lang="en-US" sz="2800" dirty="0"/>
          </a:p>
        </p:txBody>
      </p:sp>
      <p:sp>
        <p:nvSpPr>
          <p:cNvPr id="4" name="método GET"/>
          <p:cNvSpPr/>
          <p:nvPr/>
        </p:nvSpPr>
        <p:spPr>
          <a:xfrm>
            <a:off x="457200" y="118872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234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234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GET</a:t>
            </a:r>
            <a:endParaRPr lang="en-US" sz="1800" dirty="0"/>
          </a:p>
        </p:txBody>
      </p:sp>
      <p:sp>
        <p:nvSpPr>
          <p:cNvPr id="7" name="método POST"/>
          <p:cNvSpPr/>
          <p:nvPr/>
        </p:nvSpPr>
        <p:spPr>
          <a:xfrm>
            <a:off x="457200" y="2029968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20756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07568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POST</a:t>
            </a:r>
            <a:endParaRPr lang="en-US" sz="1800" dirty="0"/>
          </a:p>
        </p:txBody>
      </p:sp>
      <p:sp>
        <p:nvSpPr>
          <p:cNvPr id="10" name="método PUT"/>
          <p:cNvSpPr/>
          <p:nvPr/>
        </p:nvSpPr>
        <p:spPr>
          <a:xfrm>
            <a:off x="457200" y="2871216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" y="29169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9169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PUT</a:t>
            </a:r>
            <a:endParaRPr lang="en-US" sz="1800" dirty="0"/>
          </a:p>
        </p:txBody>
      </p:sp>
      <p:sp>
        <p:nvSpPr>
          <p:cNvPr id="13" name="método DELETE"/>
          <p:cNvSpPr/>
          <p:nvPr/>
        </p:nvSpPr>
        <p:spPr>
          <a:xfrm>
            <a:off x="457200" y="3712464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94360" y="375818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7581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DELETE</a:t>
            </a:r>
            <a:endParaRPr lang="en-US" sz="18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108960" y="1097280"/>
          <a:ext cx="5577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Demostración: CRUD que persiste y cobranza</a:t>
            </a:r>
            <a:endParaRPr lang="en-US" sz="2800" dirty="0"/>
          </a:p>
        </p:txBody>
      </p:sp>
      <p:pic>
        <p:nvPicPr>
          <p:cNvPr id="4" name="captura socios" descr="captura soc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26203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pic>
        <p:nvPicPr>
          <p:cNvPr id="5" name="captura cobranza" descr="captura cobranz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26203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Text 1"/>
          <p:cNvSpPr txBox="1"/>
          <p:nvPr/>
        </p:nvSpPr>
        <p:spPr>
          <a:xfrm>
            <a:off x="45720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Socios: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GET, POST, PUT y DELETE sobre la base de datos.</a:t>
            </a:r>
            <a:endParaRPr lang="en-US" sz="1500" dirty="0"/>
          </a:p>
        </p:txBody>
      </p:sp>
      <p:sp>
        <p:nvSpPr>
          <p:cNvPr id="7" name="Text 2"/>
          <p:cNvSpPr txBox="1"/>
          <p:nvPr/>
        </p:nvSpPr>
        <p:spPr>
          <a:xfrm>
            <a:off x="466344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Cobranza: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búsqueda por socio o puesto, abonar o exonerar y total a pagar.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Integridad: el pago se confirma completo</a:t>
            </a:r>
            <a:endParaRPr lang="en-US" sz="2800" dirty="0"/>
          </a:p>
        </p:txBody>
      </p:sp>
      <p:sp>
        <p:nvSpPr>
          <p:cNvPr id="4" name="flujo 1"/>
          <p:cNvSpPr/>
          <p:nvPr/>
        </p:nvSpPr>
        <p:spPr>
          <a:xfrm>
            <a:off x="457200" y="1188720"/>
            <a:ext cx="39319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nsignia 1"/>
          <p:cNvSpPr/>
          <p:nvPr/>
        </p:nvSpPr>
        <p:spPr>
          <a:xfrm>
            <a:off x="5943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Cuentas pendientes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581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por socio o puesto</a:t>
            </a:r>
            <a:endParaRPr lang="en-US" sz="1300" dirty="0"/>
          </a:p>
        </p:txBody>
      </p:sp>
      <p:sp>
        <p:nvSpPr>
          <p:cNvPr id="9" name="flujo 2"/>
          <p:cNvSpPr/>
          <p:nvPr/>
        </p:nvSpPr>
        <p:spPr>
          <a:xfrm>
            <a:off x="457200" y="2057400"/>
            <a:ext cx="39319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nsignia 2"/>
          <p:cNvSpPr/>
          <p:nvPr/>
        </p:nvSpPr>
        <p:spPr>
          <a:xfrm>
            <a:off x="594360" y="22128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130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Abonar o exonerar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 calcula el total</a:t>
            </a:r>
            <a:endParaRPr lang="en-US" sz="1300" dirty="0"/>
          </a:p>
        </p:txBody>
      </p:sp>
      <p:sp>
        <p:nvSpPr>
          <p:cNvPr id="14" name="flujo 3"/>
          <p:cNvSpPr/>
          <p:nvPr/>
        </p:nvSpPr>
        <p:spPr>
          <a:xfrm>
            <a:off x="457200" y="2926080"/>
            <a:ext cx="39319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nsignia 3"/>
          <p:cNvSpPr/>
          <p:nvPr/>
        </p:nvSpPr>
        <p:spPr>
          <a:xfrm>
            <a:off x="594360" y="3081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999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Procesar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319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@Transactional</a:t>
            </a:r>
            <a:endParaRPr lang="en-US" sz="1300" dirty="0"/>
          </a:p>
        </p:txBody>
      </p:sp>
      <p:sp>
        <p:nvSpPr>
          <p:cNvPr id="19" name="flujo 4"/>
          <p:cNvSpPr/>
          <p:nvPr/>
        </p:nvSpPr>
        <p:spPr>
          <a:xfrm>
            <a:off x="457200" y="3794760"/>
            <a:ext cx="39319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nsignia 4"/>
          <p:cNvSpPr/>
          <p:nvPr/>
        </p:nvSpPr>
        <p:spPr>
          <a:xfrm>
            <a:off x="594360" y="39502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3867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Recibo R-00000X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correlativo único</a:t>
            </a:r>
            <a:endParaRPr lang="en-US" sz="1300" dirty="0"/>
          </a:p>
        </p:txBody>
      </p:sp>
      <p:pic>
        <p:nvPicPr>
          <p:cNvPr id="24" name="captura voucher" descr="captura vouc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023360" cy="226203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25" name="Text 21"/>
          <p:cNvSpPr txBox="1"/>
          <p:nvPr/>
        </p:nvSpPr>
        <p:spPr>
          <a:xfrm>
            <a:off x="466344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Voucher del recibo con su correlativo; también para canje bancario e ingreso externo.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Egresos con carga masiva y reportes en Excel</a:t>
            </a:r>
            <a:endParaRPr lang="en-US" sz="2800" dirty="0"/>
          </a:p>
        </p:txBody>
      </p:sp>
      <p:pic>
        <p:nvPicPr>
          <p:cNvPr id="4" name="captura carga masiva" descr="captura carga mas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26203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pic>
        <p:nvPicPr>
          <p:cNvPr id="5" name="captura reportes" descr="captura repor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26203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Text 1"/>
          <p:cNvSpPr txBox="1"/>
          <p:nvPr/>
        </p:nvSpPr>
        <p:spPr>
          <a:xfrm>
            <a:off x="45720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Carga masiva: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las filas válidas se registran y las inválidas se reportan.</a:t>
            </a:r>
            <a:endParaRPr lang="en-US" sz="1500" dirty="0"/>
          </a:p>
        </p:txBody>
      </p:sp>
      <p:sp>
        <p:nvSpPr>
          <p:cNvPr id="7" name="Text 2"/>
          <p:cNvSpPr txBox="1"/>
          <p:nvPr/>
        </p:nvSpPr>
        <p:spPr>
          <a:xfrm>
            <a:off x="466344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Reportes: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seis descargas XLSX con rango de fechas.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Calidad: 342 pruebas automatizadas en verde</a:t>
            </a:r>
            <a:endParaRPr lang="en-US" sz="2800" dirty="0"/>
          </a:p>
        </p:txBody>
      </p:sp>
      <p:sp>
        <p:nvSpPr>
          <p:cNvPr id="4" name="pruebas backend (9 módulos)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backend (9 módulos)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JUnit, Mockito, MockMvc</a:t>
            </a:r>
            <a:endParaRPr lang="en-US" sz="1300" dirty="0"/>
          </a:p>
        </p:txBody>
      </p:sp>
      <p:sp>
        <p:nvSpPr>
          <p:cNvPr id="8" name="pruebas frontend"/>
          <p:cNvSpPr/>
          <p:nvPr/>
        </p:nvSpPr>
        <p:spPr>
          <a:xfrm>
            <a:off x="324612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29000" y="1234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frontend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Vitest</a:t>
            </a:r>
            <a:endParaRPr lang="en-US" sz="1300" dirty="0"/>
          </a:p>
        </p:txBody>
      </p:sp>
      <p:sp>
        <p:nvSpPr>
          <p:cNvPr id="12" name="pruebas extremo a extremo"/>
          <p:cNvSpPr/>
          <p:nvPr/>
        </p:nvSpPr>
        <p:spPr>
          <a:xfrm>
            <a:off x="6035040" y="118872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17920" y="1234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extremo a extremo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Playwright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62 de acceso a datos (10 repositorios: insertar, actualizar, eliminar y listar), más servicios, seguridad de cada endpoint, clientes Feign simulados y gateway.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Defectos detectados y corregidos: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sin cuerpo respondía 500; errores 4xx se enmascaraban como 500; fechas con desfase de un día por la zona horaria de Lima.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</a:t>
            </a:r>
            <a:endParaRPr lang="en-US" sz="2800" dirty="0"/>
          </a:p>
        </p:txBody>
      </p:sp>
      <p:sp>
        <p:nvSpPr>
          <p:cNvPr id="4" name="conclusiones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32 de 33 requisitos cumplidos (97 %): el diagnóstico respalda la necesidad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Microservicios Spring Cloud + Angular: 53 servicios REST, BCrypt, JWT y roles validados en el servidor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pruebas cubrieron el 100 % de los repositorios y detectaron defectos reales</a:t>
            </a:r>
            <a:endParaRPr lang="en-US" sz="1600" dirty="0"/>
          </a:p>
        </p:txBody>
      </p:sp>
      <p:sp>
        <p:nvSpPr>
          <p:cNvPr id="7" name="recomendaciones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Recomendaciones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Capacitar al personal, hacer un piloto y respaldar la base de datos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Auditar quién registra cada movimiento y cumplir la Ley 29733 (HTTPS, brechas en 48 h)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Automatizar pruebas desde el inicio y completar RF-26, rendimiento y navegadores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Cumplimos la rúbrica del curso</a:t>
            </a:r>
            <a:endParaRPr lang="en-US" sz="3200" dirty="0"/>
          </a:p>
        </p:txBody>
      </p:sp>
      <p:sp>
        <p:nvSpPr>
          <p:cNvPr id="4" name="rúbrica 1"/>
          <p:cNvSpPr/>
          <p:nvPr/>
        </p:nvSpPr>
        <p:spPr>
          <a:xfrm>
            <a:off x="548640" y="128016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Parte formal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2801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SEPTE con 4 variables y 13 fuentes citadas; 4 objetivos SMART; justificación; 3 conclusiones</a:t>
            </a:r>
            <a:endParaRPr lang="en-US" sz="1400" dirty="0"/>
          </a:p>
        </p:txBody>
      </p:sp>
      <p:sp>
        <p:nvSpPr>
          <p:cNvPr id="7" name="rúbrica 2"/>
          <p:cNvSpPr/>
          <p:nvPr/>
        </p:nvSpPr>
        <p:spPr>
          <a:xfrm>
            <a:off x="548640" y="201168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Servicios REST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2011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53 endpoints en 6 microservicios (Eureka, Gateway, Feign, RabbitMQ); login con BCrypt</a:t>
            </a:r>
            <a:endParaRPr lang="en-US" sz="1400" dirty="0"/>
          </a:p>
        </p:txBody>
      </p:sp>
      <p:sp>
        <p:nvSpPr>
          <p:cNvPr id="10" name="rúbrica 3"/>
          <p:cNvSpPr/>
          <p:nvPr/>
        </p:nvSpPr>
        <p:spPr>
          <a:xfrm>
            <a:off x="548640" y="274320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Consumo desde Angular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27432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Servicios HttpClient en todos los módulos; 51 verificaciones y 20 e2e</a:t>
            </a:r>
            <a:endParaRPr lang="en-US" sz="1400" dirty="0"/>
          </a:p>
        </p:txBody>
      </p:sp>
      <p:sp>
        <p:nvSpPr>
          <p:cNvPr id="13" name="rúbrica 4"/>
          <p:cNvSpPr/>
          <p:nvPr/>
        </p:nvSpPr>
        <p:spPr>
          <a:xfrm>
            <a:off x="548640" y="347472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Pruebas de datos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34747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Insertar, actualizar, eliminar y listar en los 9 repositorios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97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Código fuente: github.com/jmestawong/sigac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Gracias · ¿Preguntas?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AC">
  <a:themeElements>
    <a:clrScheme name="SIGAC">
      <a:dk1>
        <a:srgbClr val="16262E"/>
      </a:dk1>
      <a:lt1>
        <a:srgbClr val="FFFFFF"/>
      </a:lt1>
      <a:dk2>
        <a:srgbClr val="0E3B43"/>
      </a:dk2>
      <a:lt2>
        <a:srgbClr val="EAF2F2"/>
      </a:lt2>
      <a:accent1>
        <a:srgbClr val="0F6E6E"/>
      </a:accent1>
      <a:accent2>
        <a:srgbClr val="F2A33A"/>
      </a:accent2>
      <a:accent3>
        <a:srgbClr val="2E7DA6"/>
      </a:accent3>
      <a:accent4>
        <a:srgbClr val="4F8A57"/>
      </a:accent4>
      <a:accent5>
        <a:srgbClr val="C4533A"/>
      </a:accent5>
      <a:accent6>
        <a:srgbClr val="6B7C88"/>
      </a:accent6>
      <a:hlink>
        <a:srgbClr val="0F6E6E"/>
      </a:hlink>
      <a:folHlink>
        <a:srgbClr val="6B7C88"/>
      </a:folHlink>
    </a:clrScheme>
    <a:fontScheme name="SIGA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SIGAC - Sustentación DAW II - Grupo 5</dc:title>
  <dc:subject>PptxGenJS Presentation</dc:subject>
  <dc:creator>Grupo 5</dc:creator>
  <cp:lastModifiedBy>Grupo 5</cp:lastModifiedBy>
  <cp:revision>1</cp:revision>
  <dcterms:created xsi:type="dcterms:W3CDTF">2026-10-24T22:13:12Z</dcterms:created>
  <dcterms:modified xsi:type="dcterms:W3CDTF">2026-10-24T22:13:12Z</dcterms:modified>
</cp:coreProperties>
</file>